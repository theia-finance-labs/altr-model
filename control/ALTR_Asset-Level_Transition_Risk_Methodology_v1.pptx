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has two halves. Slides 2-4: the model exactly as published in the paper. Slides 5-14: the upgrades we pushed in crispy-kedro to make it run across every AR6 scenario and to fix the NPV-direction error. 'ALTR' and 'TRISK' are our shorthand; the paper itself says 'asset-level vs company-level'.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 is a valuation change, not a market-risk VaR. The 7% is the abstract figure; under different baseline constructions the paper also reports 8.6% (~$1.1T) and 4.1% (~$0.5T) — keep them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Fact-check guard: the paper never writes 'ALTR' or 'TRISK', and has no 4-bucket alignment scheme (it uses a continuous market-share mechanism plus aligned/misaligned). Present the table as the paper's asset- vs company-level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EBITDA decomposition (eq 7) is the heart of the model and the main departure from a revenue-only DCF. Do not state a WACC — the paper specifies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bridge slide: it motivates the five methodology fixes. The 16% paradox figure and the 'five interacting distortions' framing come from the improvement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MCPR is the conceptual spine of the upgrade: the differential carbon cost, gas treatment, and price ramp all build on the merit-order clearing-price idea. Value factors are insensitive across 0.55–1.0 in sensitivity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makes the model 'work on the full set of scenarios'. The &gt;50% coverage threshold and the two named modes (carbon_explicit / merit_order_decline) are the auto-detection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Conceptually clean: a firm that transitions gradually should face gradually transitioning prices. β ramps 0→1 from the shock year S to the alignment year S*.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honestly: Bolton &amp; Kacperczyk is an equity carbon premium; applying it to the discount rate is our adaptation. The parameter sweep showed asymmetric discounting alone does not fix the narrative — it works with the cost-structure fixes, not instead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Terminal-value domination was one of the five distortions: without this, the perpetuity dwarfs the explicit-horizon cash flows and washes out the transition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Leads on the carbon-treatment-per-scenario logic (well-grounded). Coverage is split honestly: the MCPR v2 correction was validated on 5 providers (15/15); the broader 25+ IAM coverage is from the earlier April comparison campaign. Direction numbers (78.5% / 85.6%) are from commit 056d1f6; residual paradox cases remain — gas is the honest open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this is built, don't implement vanilla Merton — the brief is explicit that the climate-relevant extensions (dynamic leverage, jump-diffusion tails, scenario-dependent volatility) should be in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merit-order dispatch model is flagged in the brief as the genuine academic contribution — the gap where ALTR could lead rather than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arc: published model → scenario-generalized, sign-corrected engine → credit + probabilistic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48840"/>
            <a:ext cx="11057839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Asset-Level Transition Risk (ALTR)</a:t>
            </a:r>
          </a:p>
          <a:p>
            <a:pPr algn="ctr"/>
            <a:r>
              <a:rPr sz="1800" b="0" i="0">
                <a:solidFill>
                  <a:srgbClr val="000000"/>
                </a:solidFill>
                <a:latin typeface="Arial"/>
              </a:rPr>
              <a:t>Methodology of the published model, and the upgrades that
generalize it across the full climate-scenario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114800"/>
            <a:ext cx="11057839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Internal methodology review · June 2026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Arial"/>
              </a:rPr>
              <a:t>Model: crispy-kedro · branch feat/altr-npv-fixes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Arial"/>
              </a:rPr>
              <a:t>Paper: Tang, Yilmaz, Gallice, Hejazi, Cervenka, Apeaning, Oweyssi, Kamboj, Buller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What the model does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It downscales global climate scenarios to individual power assets and re-values the firms that own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58368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The firm is built bottom-up as the sum of the physical generation assets it owns — each with a location, capacity, age, and emissions factor.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IPCC AR6 scenario trajectories (production, technology costs, carbon tax) are applied at the asset level, aggregated to firm free cash flow, and discounted to a net present value.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The output is a value-at-risk: the change in a firm’s NPV between a below-2°C shock and a current-policies baseline.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Headline: asset-level data puts the estimated cost of transition about 7% lower than a company-level stress test that ignores asset age and firm strategy.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Label note: “ALTR” / “TRISK” here name the paper’s asset-level (bottom-up) model and the company-level (top-down) benchmark it is compared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297680"/>
            <a:ext cx="430956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Value-at-risk (eq 15)</a:t>
            </a:r>
          </a:p>
        </p:txBody>
      </p:sp>
      <p:pic>
        <p:nvPicPr>
          <p:cNvPr id="7" name="Picture 6" descr="eq15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0"/>
            <a:ext cx="4309567" cy="449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Tang, Yilmaz, Gallice, Hejazi, Cervenka et al., “Asset-level analysis of corporate value adjustment in the climate transition” (abstract, §1).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ALTR vs TRISK: what asset-level granularity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Same scenario inputs; a more granular firm that retires its assets dynamically.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297680"/>
                <a:gridCol w="5212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Company-level (TRISK-style)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Asset-level (ALTR)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Firm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Static sector / country capacity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Bottom-up sum of owned assets (location, age, EF)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Profitability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Revenue / production drawdown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Full EBITDA: price − fuel − carbon − FOM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Costs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Aggregate or absent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Technology-specific fuel, O&amp;M, CapEx, emissions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Retirement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Uniform shock on fixed capacity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Staggered by asset age; older first; no forced stranding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Capacity &amp; cost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Held constant to 2050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Fall as assets retire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Horizon inputs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Transition starts at the shock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5-year forward plans; captures overshoot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Comparability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Sector aggregate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Firm vs peers under a shared carbon budget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74920"/>
            <a:ext cx="11057839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•  Net effect: asset-level features lower estimated loss — ~7% (abstract), 8.6% / ~$1.1T (common baseline), 4.1% / ~$0.5T (separate baselines), reported separately.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•  Caveat from the paper: more granularity does not always lower loss — 5-year forward plans add overshoot and can raise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Paper §3 and §5. The paper frames this as “asset-level vs company-level”; TRISK is the company-level methodology of its institutional home (1in1000 / Theia Finance Labs).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The valuation engine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Asset cash flows are built from an EBITDA decomposition, summed to the firm, and discounted with a dividend-discount terminal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576072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Downscale: scenario production → asset by market share η (eq 2); output Q = capacity × capacity factor (eq 3).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EBITDA per asset (eq 7): price minus fuel, carbon, and FOM. The carbon price enters here, as emissions factor × carbon tax × (1 − free allocation).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Firm free cash flow (eq 9): sum of asset EBITDA minus CapEx, with a 10% scrap recovery on retired capacity (eq 8).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NPV (eq 10): discounted FCFF plus a Gordon-growth terminal value. A single rate r, with only the condition r &gt; g — the paper sets no number.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Staggered retirement (eq 13): a logistic function loads more of the production shock onto older plants, avoiding forced stranding.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783080"/>
            <a:ext cx="485820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EBITDA per asset (eq 7) — carbon enters here</a:t>
            </a:r>
          </a:p>
        </p:txBody>
      </p:sp>
      <p:pic>
        <p:nvPicPr>
          <p:cNvPr id="7" name="Picture 6" descr="eq07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57400"/>
            <a:ext cx="4858207" cy="3290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2496140"/>
            <a:ext cx="485820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Firm free cash flow (eq 9)</a:t>
            </a:r>
          </a:p>
        </p:txBody>
      </p:sp>
      <p:pic>
        <p:nvPicPr>
          <p:cNvPr id="9" name="Picture 8" descr="eq09_f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70460"/>
            <a:ext cx="3657600" cy="6697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3549889"/>
            <a:ext cx="485820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NPV with terminal value (eq 10)</a:t>
            </a:r>
          </a:p>
        </p:txBody>
      </p:sp>
      <p:pic>
        <p:nvPicPr>
          <p:cNvPr id="11" name="Picture 10" descr="eq10_np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824209"/>
            <a:ext cx="4846320" cy="11264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Paper §2 (equations 2–15). Equations transcribed to a clean form; the paper prints two different equations as “(2)” and gives no numeric discount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Why upgrade: one scenario → all scenarios, and the NPV paradox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The published model was calibrated on one IAM. Generalizing it across the AR6 set exposed a sign error in the transition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11057839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The paper runs on a single IAM (AIM/CGE 2.2). Production needs the model to work across the full AR6 provider set — WITCH, REMIND, MESSAGEix, GCAM, IMAGE, COFFEE, TIAM, and more.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Running it broadly surfaced the NPV paradox: about 16% of technology–geography combinations showed fossil firms gaining value under the transition shock — the wrong direction.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The cause is not one bug but five interacting distortions: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–  near-term price windfall from a hard baseline→target switch;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–  gas free-riding on the marginal-generator position;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–  terminal value dominating the NPV (~20× final-year cash flow);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–  a single discount rate that cannot separate brown from green;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–  static renewable capture prices.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The next five slides each fix one distortion. Together they pull the transition signal back toward the expected direction in the large majority of cases — quantified on slide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ALTR Improvement Brief and NPV Direction-Fix Research (crispy-kedro/docs/research, ALTR_NPV_Direction_Fix_Research.md).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Marginal Cost Price Ratio (MCPR) pricing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IAM electricity prices are technology-specific costs, not the uniform market price generators actually receive.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0080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In a merit-order market every generator is paid the clearing price set by the marginal dispatchable plant — usually gas. Low-cost renewables earn that same price: the infra-marginal rent that keeps them viable.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IAM prices instead approximate each technology’s own LCOE. Solar can sit above the clearing price; hydro far below it.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MCPR sets one clearing price from the marginal technologies, then applies empirical capture (value) factors for variable renewables (Hirth 2013): about 0.85 for solar, 0.90 for wind.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Worked example (AIM/CGE 2.2, Asia): solar $119 → $71 (×0.85); hydro $53 → $83, now earning the full clearing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4526280"/>
            <a:ext cx="45838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Clearing price from marginal techs</a:t>
            </a:r>
          </a:p>
        </p:txBody>
      </p:sp>
      <p:pic>
        <p:nvPicPr>
          <p:cNvPr id="7" name="Picture 6" descr="u_mcpr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800600"/>
            <a:ext cx="4572000" cy="4404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440680"/>
            <a:ext cx="45838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Capture-adjusted price per technology</a:t>
            </a:r>
          </a:p>
        </p:txBody>
      </p:sp>
      <p:pic>
        <p:nvPicPr>
          <p:cNvPr id="9" name="Picture 8" descr="u_mcpr_ad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5715000"/>
            <a:ext cx="4206240" cy="341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ALTR MCPR methodology (MCPR/ALTR_MCPR_methodology_v1.md); Hirth (2013); Koolen et al. (2023, JRC).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Carbon-price treatment, made scenario-agnostic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Carbon enters as a differential cost above the marginal generator — and the model auto-detects how each IAM already prices carbon.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0080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Carbon cost is charged on a plant’s emissions above the marginal generator’s, not its absolute emissions — the clearing price already embeds the marginal plant’s carbon.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The marginal emissions factor falls as renewables grow (quadratic in VRE share). As the grid cleans, every fossil plant’s differential carbon cost rises.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IAMs differ in whether the electricity price already contains carbon. MCPR v2 auto-detects this: above 50% carbon-price coverage it uses carbon_explicit (full emissions factor); otherwise merit_order_decline (differential).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•  Effect: carbon is neither double-counted (for IAMs that embed it) nor missed (for those that report it separately) — the same firm is priced consistently whatever the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4526280"/>
            <a:ext cx="45838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Differential carbon cost</a:t>
            </a:r>
          </a:p>
        </p:txBody>
      </p:sp>
      <p:pic>
        <p:nvPicPr>
          <p:cNvPr id="7" name="Picture 6" descr="u_carbon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800600"/>
            <a:ext cx="4583887" cy="357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440680"/>
            <a:ext cx="458388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Marginal EF declines with VRE share</a:t>
            </a:r>
          </a:p>
        </p:txBody>
      </p:sp>
      <p:pic>
        <p:nvPicPr>
          <p:cNvPr id="9" name="Picture 8" descr="u_dyn_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5715000"/>
            <a:ext cx="4206240" cy="4856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crispy-kedro commits 056d1f6, 49efb56; MCPR v2 spec (docs/superpowers/specs/2026-04-14-mcpr-v2-redesign.md).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Smoothing the transition: the price ramp (RC4)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A hard baseline→target price switch at the shock year created a near-term windfall that flipped NPV 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The mixed scenario surface switched from baseline to target prices instantly at the shock year. Target prices are higher near-term (carbon raises the still-fossil system’s clearing price) and lower later (renewables dominate).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With production falling but price jumping, fossil firms booked a near-term revenue windfall that, discounted at 7%, outweighed the long-run decline — a direct driver of the paradox.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Fix: linearly blend baseline into target over the shock window, matching the gradual production ramp. The discontinuous windfall disappears and the signal turns negative for fossils.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66344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Linear price blend over the shock window</a:t>
            </a:r>
          </a:p>
        </p:txBody>
      </p:sp>
      <p:pic>
        <p:nvPicPr>
          <p:cNvPr id="7" name="Picture 6" descr="u_price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4492447" cy="3787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ALTR Improvement Brief (RC4); crispy-kedro commit 056d1f6 (earnings_model price ramp).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Technology-differentiated discount 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Brown and green assets no longer share one discount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The published model uses a single rate r (it sets no value; the code uses 7%). One rate discounts every cash flow equally — raising it penalizes renewables as much as fossils, so it cannot create the transition signal.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The upgrade adds a carbon premium: brown technologies +100 bps, green −50 bps. Higher rates compress fossil valuations; lower rates lift renewables.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Rationale: Bolton &amp; Kacperczyk (2021) document a carbon premium in equity returns. We adapt it to the discount rate as a financing-cost spread — an adaptation, not a direct port (their premium is measured on equity).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52628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Brown / green discount spreads</a:t>
            </a:r>
          </a:p>
        </p:txBody>
      </p:sp>
      <p:pic>
        <p:nvPicPr>
          <p:cNvPr id="7" name="Picture 6" descr="u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00600"/>
            <a:ext cx="4492447" cy="322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crispy-kedro commit 056d1f6 (valuation_model; brown +100 bps / green −50 bps); Bolton &amp; Kacperczyk (2021).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Stranding-aware terminal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A perpetuity on the final year’s cash flow overvalues firms whose assets are being stranded.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In eq 10 the Gordon-growth terminal value can reach roughly 20× the final-year FCFF — so a stressed final year is amplified, not dampened.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First change: normalize the terminal FCFF over a 3-year window (Damodaran / McKinsey) so one noisy year does not set the perpetuity.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Second change: a three-tier stranding-aware rule (Gourdel 2024). An asset declining to zero gets no perpetuity; a stressed-but-surviving asset gets a capped one; a healthy asset gets the standard formula.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Terminal growth is split by technology: brown 0%, green 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66344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Normalized, gated terminal value</a:t>
            </a:r>
          </a:p>
        </p:txBody>
      </p:sp>
      <p:pic>
        <p:nvPicPr>
          <p:cNvPr id="7" name="Picture 6" descr="u_tv_st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4492447" cy="510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crispy-kedro commit 056d1f6 (valuation_model, 3-tier TV); Gourdel (2024).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Results across the full scenario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The model now runs clean across the AR6 IAM set, and the carbon treatment adapts per scenario.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Key per-scenario difference is carbon treatment. IAMs that report a carbon price trigger carbon_explicit / full emissions factor; IAMs that embed carbon in the electricity price trigger merit_order_decline / differential — auto-detected per scenario, so the same firm is priced consistently whatever the IAM.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The MCPR v2 correction is validated on 5 IAM providers (COFFEE, GCAM, IMAGE, MESSAGEix, WITCH) × 3 configs — 15 of 15 runs pass. The earlier April comparison campaign spanned 25+ IAM versions across the AR6 set (AIM/CGE, the REMIND family, TIAM, GEM-E3, and others).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•  Direction after the fixes (feat/altr-npv-fixes, commit 056d1f6): carbontech ~78.5% value-destroying (was 52.3%), greentech ~85.6% value-creating (was 33.3%). Residual wrong-direction cases remain — gas is the least-negative fossil and the borderline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80060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Merit-order decline mode (MCPR v2)</a:t>
            </a:r>
          </a:p>
        </p:txBody>
      </p:sp>
      <p:pic>
        <p:nvPicPr>
          <p:cNvPr id="7" name="Picture 6" descr="u_merit_de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074920"/>
            <a:ext cx="4492447" cy="361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MCPR v2 batch: workspace/batch_run_mcpr_v2.log (5 providers × 3 configs, 15/15 PASS); broader coverage: workspace/comparison_results/ (25+ IAM versions, April 2026); direction: commit 056d1f6. NPV magnitudes vary across the model’s evolution — stated directionally and version-stamped.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Ways forward (1): from value-at-risk to default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The model stops at NPV. A structural credit layer would turn valuation shocks into probabilities of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A Merton structural model treats equity as a call option on firm assets; the transition-driven fall in asset value raises the distance-to-default and the implied PD.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Building blocks from the literature: Reinders (closed-form NPV→PD), Cormack (time-dependent drift, rating-dependent volatility), Gourdel (a carbon-premium feedback between PD and borrowing cost), and CRISK (market-implied, continuous monitoring).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This is the direction supervisors are moving: the EBA’s 2025 climate stress-test guidelines (EBA/GL/2025/04) make climate stress testing with capital-adequacy effects mandatory from 2026 — PD is one transmission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66344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Merton distance-to-default → PD</a:t>
            </a:r>
          </a:p>
        </p:txBody>
      </p:sp>
      <p:pic>
        <p:nvPicPr>
          <p:cNvPr id="7" name="Picture 6" descr="w_mer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4492447" cy="571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ALTR Improvement Brief (M1): Reinders (2020), Cormack (2020), Gourdel (2024), Jung–Engle–Berner CRISK (2025); EBA/GL/2025/04.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Ways forward (2): from one scenario to a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Replace single-scenario point estimates with a probability-weighted loss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6492240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Each run today is one deterministic scenario. A Monte Carlo layer would draw over the uncertain valuation parameters — discount rate, terminal growth, carbon price, pass-through — to produce a loss distribution and a true climate VaR.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Scenarios themselves can be probability-weighted (Le Guenedal’s Bayesian updating), and asset correlations modelled with copulas so portfolio tail risk is not understated.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Arial"/>
              </a:rPr>
              <a:t>•  Two further extensions: network contagion (Veraart) to propagate firm losses through the financial system, and a merit-order dispatch model computing capture prices from supply–demand clearing — which no published transition-risk model yet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4754880"/>
            <a:ext cx="44924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1" i="0">
                <a:solidFill>
                  <a:srgbClr val="666666"/>
                </a:solidFill>
                <a:latin typeface="Arial"/>
              </a:rPr>
              <a:t>Probability-weighted expected NPV</a:t>
            </a:r>
          </a:p>
        </p:txBody>
      </p:sp>
      <p:pic>
        <p:nvPicPr>
          <p:cNvPr id="7" name="Picture 6" descr="w_prob_n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029200"/>
            <a:ext cx="4492447" cy="681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ALTR Improvement Brief (M5, M6, N1): Desnos et al. / Amundi, Le Guenedal (2022), Veraart (2020).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700" b="1" i="0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57839" cy="0"/>
          </a:xfrm>
          <a:prstGeom prst="bentConnector3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188720"/>
            <a:ext cx="11057839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50" b="0" i="1">
                <a:solidFill>
                  <a:srgbClr val="000000"/>
                </a:solidFill>
                <a:latin typeface="Arial"/>
              </a:rPr>
              <a:t>A published asset-level model, generalized across the AR6 scenario set and corrected so the large majority of cases show the expected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11057839" cy="4407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The paper’s contribution: bottom-up, asset-level valuation that lowers the estimated cost of transition by about 7% versus company-level stress tests.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The upgrades: merit-order pricing, differential carbon with per-scenario auto-detection, a smoothed price ramp, technology-differentiated discount rates, and stranding-aware terminal value — together they move the transition signal back to the expected direction in the large majority of cases (carbontech ~78% negative, greentech ~86% positive), with residual cases remaining.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Next: a credit-risk PD layer, and a probabilistic, multi-scenario value-at-risk.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0"/>
            <a:ext cx="11057839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•  Tang, Yilmaz, Gallice, Hejazi, Cervenka et al. — Asset-level analysis of corporate value adjustment in the climate transition.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•  Hirth (2013); Koolen et al. (2023); Bolton &amp; Kacperczyk (2021); Gourdel (2024); Reinders (2020); Cormack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Source: Methodology sources: crispy-kedro docs/research and MCPR methodology; paper digest and vault digest in control/.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