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ALTR (Asset-Level Transition Risk) is our next-generation model, an intentional rebrand from TRISK to own the IP narrative. Everything quantitative in this deck is version-stamped to model 7b7546a; defaults cited from runtime config (conf/base) — no figures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Valuation practice (FCFF/FCFE) is explicit — use free cash flows, not accounting profits or EBITDA alone. Using earnings double-counts or ignores parts of the cash-flow stream. This is the motivation for every change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corporate tax, no depreciation, no working capital — deliberately excluded; we don't have that accounting data at asset level and say so. The paper's claim that asset-level data lowers estimated transition cost by ~7% is kept as the paper's claim, not generalized.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New-build OFF is a choice, not an omission. Turning it on with AR6 O&amp;M data charges green builders twice and skews results against exactly the assets that should win. A provider-level audit (future work) decides where it can be safely 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stranded coal plant has no salvage market; what it has is demolition and site-remediation liabilities (ARO-style). Charging 50% of CapEx/MW as an outflow is crude but directionally right — technology-specific ratios are queued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design put the risk premium on the scenario (8% shock rate). That punished green winners in the shock too — one cause of wrong-direction results. Moving the premium onto the technology is what the carbon-premium literature actually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double-counting risk was raised in review as 'we need a decision tree' — this IS the decision tree, shipped and guarded by a runtime warning when modes are mismatched. Note: cost scales with volume (MWh), not capacity. Passthrough default 0 — the firm absorbs the full cost (conservative stress-test stance).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deepest data problem we have with AR6, and it motivated the MCPR layer on the next slide. It is a property of the scenarios, not of our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consensus was 'intuitive but heroic assumptions — explore as a paper.' We agree, and we frame it that way externally. Providers validated: COFFEE, GCAM, IMAGE, MESSAGEix-GLOBIOM, WITCH. If AR7/NGFS publish usable clearing prices (expected H2 2026), MCPR becomes validation, not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Upgrade path is plant-level intensity from Climate Trace or AR6 efficiency-by-vintage data (future work). Until then, external claims stay at 'age as proxy' — this caveat came out of the deep-dive review and we adopt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are from the post-fix April batch on 5 providers × 3 configurations. A canonical direction-expectation matrix rebuilt from those results is the next deliverable and will replace these numbers if they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Items 1–3 are decided and queued; 4 is a trigger we monitor; 5 is the immediate next deliverable; 6–7 are the research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detail lives in the notes of every slide. Plan of record: docs/superpowers/plans/2026-07-06-altr-reconciliation-and-effectiveness-plan.md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8E6E1"/>
                </a:solidFill>
              </a:defRPr>
            </a:pPr>
            <a:r>
              <a:t>ALTR: what changed, and why it had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6E1"/>
                </a:solidFill>
              </a:defRPr>
            </a:pPr>
            <a:r>
              <a:t>From accounting profits to asset-level free cash flow — the model updates, the evidence behind each one, and what comes next.</a:t>
            </a:r>
          </a:p>
          <a:p>
            <a:pPr>
              <a:spcAft>
                <a:spcPts val="1000"/>
              </a:spcAft>
              <a:defRPr sz="1300">
                <a:solidFill>
                  <a:srgbClr val="9AA3AD"/>
                </a:solidFill>
              </a:defRPr>
            </a:pPr>
            <a:r>
              <a:t>Facts as of model version 7b7546a · defaults from runtime config (conf/base)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TRISK values earnings. Markets value cash.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8E6E1"/>
                </a:solidFill>
              </a:defRPr>
            </a:pPr>
            <a:r>
              <a:t>TRISK's net-profit block is revenue minus a per-MWh cost, discounted. An earnings construct — not the cash a firm can distribute.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No investment: no CapEx, replacement, or decommissioning — the cycles that drive power-sector cash flows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Fragile margin data: Refinitiv Eikon net profit margins are gap-filled averages, unreliable at asset level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Everything scales with output: fixed O&amp;M on a stranded plant is invisible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Asset-level free cash flow, bottom-up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8E6E1"/>
                </a:solidFill>
              </a:defRPr>
            </a:pPr>
            <a:r>
              <a:t>Each firm is the sum of its physical plants — location, capacity, age, emission factor. AR6 trajectories hit each asset; cash flows aggregate up.</a:t>
            </a:r>
          </a:p>
          <a:p>
            <a:pPr>
              <a:spcAft>
                <a:spcPts val="1000"/>
              </a:spcAft>
              <a:defRPr sz="1600">
                <a:solidFill>
                  <a:srgbClr val="D9A441"/>
                </a:solidFill>
              </a:defRPr>
            </a:pPr>
            <a:r>
              <a:t>Revenue (Q × price) − Fuel (Q × fuel/η) − Fixed O&amp;M (K × fom) − Carbon (net of passthrough) = EBITDA</a:t>
            </a:r>
          </a:p>
          <a:p>
            <a:pPr>
              <a:spcAft>
                <a:spcPts val="1000"/>
              </a:spcAft>
              <a:defRPr sz="1600">
                <a:solidFill>
                  <a:srgbClr val="D9A441"/>
                </a:solidFill>
              </a:defRPr>
            </a:pPr>
            <a:r>
              <a:t>EBITDA − CapEx streams = FCFF → DCF → NPV</a:t>
            </a:r>
          </a:p>
          <a:p>
            <a:pPr>
              <a:spcAft>
                <a:spcPts val="1000"/>
              </a:spcAft>
              <a:defRPr sz="1400">
                <a:solidFill>
                  <a:srgbClr val="9AA3AD"/>
                </a:solidFill>
              </a:defRPr>
            </a:pPr>
            <a:r>
              <a:t>Output: valuation shock = ΔNPV between below-2°C shock and current-policies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CHANGE 1 ·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Three CapEx streams — two on, one deliberately off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94560"/>
          <a:ext cx="106070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A3AD"/>
                          </a:solidFill>
                        </a:defRPr>
                      </a:pPr>
                      <a:r>
                        <a:t>Stream</a:t>
                      </a:r>
                    </a:p>
                  </a:txBody>
                  <a:tcPr>
                    <a:solidFill>
                      <a:srgbClr val="2C3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A3AD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2C3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A3AD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C3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A3AD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2C34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Replacement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2% of installed MW / year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ON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EPRI/Lazard maintenance benchmark; retiring assets excluded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Decommissioning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50% of CapEx/MW at retirement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ON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Demolition, remediation, site restoration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New-build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ΔK+ × CapEx/MW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OFF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IAM O&amp;M (REMIND, WITCH, POLES) already bundles annualized capital — double-counts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CHANGE 2 · RETIREMENT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Decommissioning is a cost, not a payday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8E6E1"/>
                </a:solidFill>
              </a:defRPr>
            </a:pPr>
            <a:r>
              <a:t>Early versions treated retirement as positive scrap income. Real plant retirement is a net cash outflow.</a:t>
            </a:r>
          </a:p>
          <a:p>
            <a:pPr>
              <a:spcAft>
                <a:spcPts val="1000"/>
              </a:spcAft>
              <a:defRPr sz="1700">
                <a:solidFill>
                  <a:srgbClr val="E8E6E1"/>
                </a:solidFill>
              </a:defRPr>
            </a:pPr>
            <a:r>
              <a:t>Fixing the sign was the single largest direction lever we found:</a:t>
            </a:r>
          </a:p>
          <a:p>
            <a:pPr>
              <a:spcAft>
                <a:spcPts val="1000"/>
              </a:spcAft>
              <a:defRPr sz="2600">
                <a:solidFill>
                  <a:srgbClr val="5FB57D"/>
                </a:solidFill>
              </a:defRPr>
            </a:pPr>
            <a:r>
              <a:t>Carbontech with expected negative shock:  52%  →  67%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CHANGE 3 · 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Four upgrades beyond the discount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Technology risk spreads: carbontech +100bps, green −50bps, both scenarios at 7% (Bolton &amp; Kacperczyk; Shell 2024 discloses 150bps O&amp;G-vs-renewables)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Stranding-aware terminal value: 3 loss-making final years → TV = 0; declining-but-profitable fossil → 10-year annuity; green → perpetuity (Gourdel 2024)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Terminal cash flow normalized over last 3 years — one CapEx spike can no longer erase a terminal value (Damodaran/McKinsey)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Split terminal growth: fossil 0%, green 2%. At r=7%, flat 2% = 20.4× terminal multiple vs 14.6× at 0% — ~28% overvaluation of declining assets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CHANGE 4 · CARBON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Two modes, because IAMs disagree about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8E6E1"/>
                </a:solidFill>
              </a:defRPr>
            </a:pPr>
            <a:r>
              <a:t>Carbon cost = production volume × carbon price × emission factor × (1 − passthrough). The question is WHICH emission factor.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full_ef (default): every tonne pays. For scenarios whose electricity prices do NOT embed carbon costs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differential_ef: only emissions above the marginal generator pay — avoids double-counting when prices already embed carbon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Auto-detection picks the mode from the scenario's carbon-price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CHANGE 5 ·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IAM electricity prices don't clear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8E6E1"/>
                </a:solidFill>
              </a:defRPr>
            </a:pPr>
            <a:r>
              <a:t>AR6 prices are LCOE-derived and technology-differentiated — every technology sees its own price. Real markets clear at one price set by the marginal generator.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Consequence: perpetually negative NPVs for some technologies IN THE BASELINE — before any shock is applied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A model whose baseline says 'this plant never made money' cannot measure a transition shock against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CHANGE 5 ·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MCPR v2 — a clearing-price adjustment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carbon_explicit: for scenarios with explicit carbon prices — gas-anchored clearing price, technology value factors, paired with full_ef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merit_order_decline: clearing price declines with renewable penetration (IMF elasticity), applied BEFORE value factors so a price floor can't negate it</a:t>
            </a:r>
          </a:p>
          <a:p>
            <a:pPr>
              <a:spcAft>
                <a:spcPts val="1000"/>
              </a:spcAft>
              <a:defRPr sz="1600">
                <a:solidFill>
                  <a:srgbClr val="D9A441"/>
                </a:solidFill>
              </a:defRPr>
            </a:pPr>
            <a:r>
              <a:t>Status — two-track: internal working configuration, validated on 5/5 IAM providers. Externally: exploratory adjustment pending a methods paper and engineering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CHANGE 6 ·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Retirement by age — a proxy, 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8E6E1"/>
                </a:solidFill>
              </a:defRPr>
            </a:pPr>
            <a:r>
              <a:t>Companies retire their oldest assets first in the model. Age proxies carbon intensity and retirement priority. It does NOT claim economic optimization.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Older plants are typically less efficient and dirtier — the intensity proxy holds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A young inefficient plant can be less economic than an old efficient one — so we don't claim the economics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Stranding still happens where it should: the valuation layer zeroes terminal value of persistently loss-making assets, whatever their 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DOES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Direction restored in the large majority — not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FB57D"/>
                </a:solidFill>
              </a:defRPr>
            </a:pPr>
            <a:r>
              <a:t>5 / 5 IAM providers run end-to-end, validation OK</a:t>
            </a:r>
          </a:p>
          <a:p>
            <a:pPr>
              <a:spcAft>
                <a:spcPts val="1000"/>
              </a:spcAft>
              <a:defRPr sz="2000">
                <a:solidFill>
                  <a:srgbClr val="E8E6E1"/>
                </a:solidFill>
              </a:defRPr>
            </a:pPr>
            <a:r>
              <a:t>78.5% of carbontech cases show the expected negative shock</a:t>
            </a:r>
          </a:p>
          <a:p>
            <a:pPr>
              <a:spcAft>
                <a:spcPts val="1000"/>
              </a:spcAft>
              <a:defRPr sz="2000">
                <a:solidFill>
                  <a:srgbClr val="E8E6E1"/>
                </a:solidFill>
              </a:defRPr>
            </a:pPr>
            <a:r>
              <a:t>85.6% of greentech cases show the expected positive direction</a:t>
            </a:r>
          </a:p>
          <a:p>
            <a:pPr>
              <a:spcAft>
                <a:spcPts val="1000"/>
              </a:spcAft>
              <a:defRPr sz="1500">
                <a:solidFill>
                  <a:srgbClr val="9AA3AD"/>
                </a:solidFill>
              </a:defRPr>
            </a:pPr>
            <a:r>
              <a:t>•  Residual wrong-direction cases remain — we do not claim 'every scenario'</a:t>
            </a:r>
          </a:p>
          <a:p>
            <a:pPr>
              <a:spcAft>
                <a:spcPts val="1000"/>
              </a:spcAft>
              <a:defRPr sz="1500">
                <a:solidFill>
                  <a:srgbClr val="9AA3AD"/>
                </a:solidFill>
              </a:defRPr>
            </a:pPr>
            <a:r>
              <a:t>•  Gas is the known borderline: merit-order winner in some pathways, carbon loser in others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Future improvements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94560"/>
          <a:ext cx="106070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A3AD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C3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A3AD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2C3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A3AD"/>
                          </a:solidFill>
                        </a:defRPr>
                      </a:pPr>
                      <a:r>
                        <a:t>Unlocks</a:t>
                      </a:r>
                    </a:p>
                  </a:txBody>
                  <a:tcPr>
                    <a:solidFill>
                      <a:srgbClr val="2C34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Provider-level CapEx audit — which IAM O&amp;M series bundle capital?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Safe re-enabling of new-build CapEx per provider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Technology-specific decommissioning ratios (coal ≠ gas ≠ wind)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Defensible retirement cost magnitudes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Retirement proxy upgrade: Climate Trace / AR6 plant-level intensity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Replaces age-as-proxy caveat with data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AR7 / NGFS reassessment (expected H2 2026)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Possible retirement of MCPR as a dependency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Canonical direction-expectation matrix as a regression gate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Every model change tested against expected signs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Credit-risk layer: Merton PD on top of NPV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Restores TRISK's PD output at asset-level quality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MCPR methods paper with engineering input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E6E1"/>
                          </a:solidFill>
                        </a:defRPr>
                      </a:pPr>
                      <a:r>
                        <a:t>Peaker vs baseload dynamics; external credibility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04C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6E1"/>
                </a:solidFill>
              </a:defRPr>
            </a:pPr>
            <a:r>
              <a:t>One sentence per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Cash flows, not accounting profits — because markets price cash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CapEx made explicit; new-build off until double-counting is ruled out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Retirement costs money — and fixing that sign fixed the most directions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Risk premium moved from scenario to technology — where the evidence is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Declining assets stop growing forever: 0% fossil growth, stranding-aware terminal value</a:t>
            </a:r>
          </a:p>
          <a:p>
            <a:pPr>
              <a:spcAft>
                <a:spcPts val="1000"/>
              </a:spcAft>
              <a:defRPr sz="1600">
                <a:solidFill>
                  <a:srgbClr val="E8E6E1"/>
                </a:solidFill>
              </a:defRPr>
            </a:pPr>
            <a:r>
              <a:t>•  Carbon costs auto-detect double-counting; prices get a clearing-price layer, honestly labeled exploratory</a:t>
            </a:r>
          </a:p>
          <a:p>
            <a:pPr>
              <a:spcAft>
                <a:spcPts val="1000"/>
              </a:spcAft>
              <a:defRPr sz="1200">
                <a:solidFill>
                  <a:srgbClr val="9AA3AD"/>
                </a:solidFill>
              </a:defRPr>
            </a:pPr>
            <a:r>
              <a:t>Model 7b7546a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